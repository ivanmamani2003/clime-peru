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216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76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D3B6E">
              <a:alpha val="45000"/>
            </a:srgbClr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011680"/>
            <a:ext cx="2743200" cy="27432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PERUANA UNIÓN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y Arquitectura  ·  Ing. de Sistemas  ·  Big Data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CimaPerú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Monitoreo Climático Inteligente para el Perú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4505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Unidad 2  ·  Arquitectura Kappa + Kafka + Spark Streaming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944368"/>
            <a:ext cx="32004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12724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Yomar Mamani Merma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3832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Abel Angel Sullon Macalupu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7947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Juliaca —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RESUMEN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streaming en tiempo real para monitoreo climático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920240" cy="14173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Contenerizados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1417320"/>
            <a:ext cx="1920240" cy="14173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41732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1,073,151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2121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SENAMHI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417320"/>
            <a:ext cx="1920240" cy="14173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41732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17720" y="2121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Meteorológicas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0840" y="1417320"/>
            <a:ext cx="1920240" cy="14173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417320"/>
            <a:ext cx="1920240" cy="6400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20840" y="2121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999232"/>
            <a:ext cx="8321040" cy="15544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090672"/>
            <a:ext cx="7955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datos históricos SENAMHI (ETL batch a Parquet) con lecturas en tiempo real de sensores en Supabase.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Kappa: Apache Kafka 4.2.0 (KRaft) como sistema de mensajería + Apache Spark Structured Streaming como motor de procesamiento.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anomalías climáticas con umbrales configurables (desviación estándar σ = 2.0).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completa: Prometheus · Grafana · Dashboard interactivo Streamlit.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ARQUITECTURA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Pipeline (Kappa)</a:t>
            </a:r>
            <a:endParaRPr lang="en-US" sz="2600"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254014BA-84E6-4AB6-8B9C-4B805CF25DD6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16"/>
          <a:stretch/>
        </p:blipFill>
        <p:spPr bwMode="auto">
          <a:xfrm>
            <a:off x="988906" y="1005840"/>
            <a:ext cx="7288107" cy="38303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38788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KAFKA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en Tiempo Real con Kafka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977640" cy="13258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Configuración del Broker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KRaft (sin Zookeeper)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mensajes: 168h 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interno: kafka:9092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externo: localhost:19092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3977640" cy="13716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Tópicos Kafka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182112"/>
            <a:ext cx="36118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09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clima-puno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34670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de sensores desde Supabase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0" y="32644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P:1 · R:1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4360" y="3621024"/>
            <a:ext cx="36118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484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clima-anomalias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785616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registros detectados como anomalías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0" y="3703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P:1 · R:1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7720" y="1371600"/>
            <a:ext cx="4114800" cy="196596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Contrato de Evento (JSON)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7373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sensor_id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35040" y="17373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estación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543800" y="1737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2002536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35040" y="200253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°C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43800" y="20025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00600" y="226771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humedad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0" y="2267712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Humedad 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543800" y="226771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00600" y="253288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iaq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35040" y="2532888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aire 0-500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43800" y="25328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00600" y="279806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eco2 / voc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035040" y="2798064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eq / VOC ppb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543800" y="27980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00600" y="306324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35040" y="306324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ISO 8601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543800" y="3063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429000"/>
            <a:ext cx="4114800" cy="11887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00600" y="3474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Mecanismos de Ingesta (Supabase Bridge)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37490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inicial: todos los registros vía REST API al arrancar.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Realtime: eventos INSERT en tiempo real.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de respaldo: cada 30s para tolerancia a fallos.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SPARK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con Spark Streaming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Structured Streaming · Detección de anomalías climáticas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51206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4264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Parámetros del Stream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51206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6324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029968"/>
            <a:ext cx="5120640" cy="338328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7568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207568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segundos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63240" y="207568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latencia / eficiencia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368296"/>
            <a:ext cx="512064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41401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2414016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segundos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63240" y="241401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 eventos fuera de orden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706624"/>
            <a:ext cx="5120640" cy="338328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752344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91640" y="2752344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minuto (tumbling)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63240" y="275234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Agregaciones por minuto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3044952"/>
            <a:ext cx="512064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09067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91640" y="3090672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63240" y="309067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nuevas filas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3383280"/>
            <a:ext cx="5120640" cy="338328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42900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Spark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91640" y="342900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 driver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63240" y="342900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local[*]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60720" y="1371600"/>
            <a:ext cx="297180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60720" y="1371600"/>
            <a:ext cx="29718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Detección de Anomalías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43600" y="17373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2.0  (configurable)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19202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lím_inf = μ − σ · DE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lím_sup = μ + σ · DE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 si T &lt; lím_inf ó T &gt; lím_sup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60720" y="2999232"/>
            <a:ext cx="297180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760720" y="2999232"/>
            <a:ext cx="29718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Salidas del Pipeline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943600" y="3401568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(debug): hasta 20 filas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→ clima-anomalias (solo SI)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Parquet: todos los registros procesados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3931920"/>
            <a:ext cx="5120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94360" y="39776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Transformaciones aplicadas: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Parseo JSON  →  Campos de observabilidad (isValid, latencyMs)  →  Detección anomalías  →  Ventanas + Watermark  →  Escritura multi-sink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MÉTRICAS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Rendimiento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controladas con diferentes configuraciones de trigger y watermark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83210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0817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63040" y="140817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94560" y="140817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63240" y="140817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69080" y="140817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83480" y="14081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1737360"/>
            <a:ext cx="8321040" cy="402336"/>
          </a:xfrm>
          <a:prstGeom prst="rect">
            <a:avLst/>
          </a:prstGeom>
          <a:solidFill>
            <a:srgbClr val="0D3B6E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1051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(Default)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63040" y="181051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94560" y="181051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63240" y="18105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rows/s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69080" y="181051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6,101 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83480" y="18105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 Supabase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139696"/>
            <a:ext cx="8321040" cy="402336"/>
          </a:xfrm>
          <a:prstGeom prst="rect">
            <a:avLst/>
          </a:prstGeom>
          <a:solidFill>
            <a:srgbClr val="1020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21284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63040" y="221284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94560" y="221284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63240" y="221284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rows/s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69080" y="221284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8,500 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83480" y="221284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tolerancia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2542032"/>
            <a:ext cx="8321040" cy="402336"/>
          </a:xfrm>
          <a:prstGeom prst="rect">
            <a:avLst/>
          </a:prstGeom>
          <a:solidFill>
            <a:srgbClr val="0D3B6E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61518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463040" y="261518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94560" y="261518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63240" y="261518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rows/s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069080" y="261518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ms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83480" y="261518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latencia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2944368"/>
            <a:ext cx="8321040" cy="402336"/>
          </a:xfrm>
          <a:prstGeom prst="rect">
            <a:avLst/>
          </a:prstGeom>
          <a:solidFill>
            <a:srgbClr val="1020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01752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463040" y="301752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94560" y="301752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063240" y="301752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rows/s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069080" y="30175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5,100 ms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83480" y="30175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watermark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" y="3346704"/>
            <a:ext cx="8321040" cy="402336"/>
          </a:xfrm>
          <a:prstGeom prst="rect">
            <a:avLst/>
          </a:prstGeom>
          <a:solidFill>
            <a:srgbClr val="0D3B6E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41985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(ASAP)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463040" y="341985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 proc.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194560" y="341985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063240" y="341985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rows/s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069080" y="341985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83480" y="341985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respuesta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11480" y="3767328"/>
            <a:ext cx="8321040" cy="9601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94360" y="381304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Análisis de Resultados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4360" y="4059936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throughput está limitado por la frecuencia de publicación de Supabase (~1 msg/min). Con 500 registros iniciales, Spark logra ~83 rows/s en carga inicial. En estado estacionario, el lag se mantiene en 0 y la latencia neta es ~100ms. El trigger ASAP (Prueba 5) ofrece menor latencia a costo de mayor uso de CPU.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OBSERVABILIDAD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del Pipeline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Streamlit  —  Tres dimensiones de monitoreo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53312"/>
            <a:ext cx="26060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Métricas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773936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233172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848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kafka_consumergroup_lag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53288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kafka_topic_partition_current_offset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98094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kafka_brokers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up{job='kafka-exporter'}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353312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353312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Dashboards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1773936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011680"/>
            <a:ext cx="233172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0848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 Brokers (Stat)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53288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 Exporter Status (Stat)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98094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Consumer Lag (Time series)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42900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Messages Per Topic (Time series)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1353312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353312"/>
            <a:ext cx="26060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Visualización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1773936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:8501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011680"/>
            <a:ext cx="233172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0848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 Histórico: filtros + box plots + mapas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253288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 Tiempo Real: refresco 2s vía WebSocket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298094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Métricas del Stack: offsets, lag, brokers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342900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Tabla descargable CSV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4169664"/>
            <a:ext cx="832104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" y="420624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Alertas Prometheus configuradas: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" y="4453128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EF4444">
              <a:alpha val="3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453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KafkaExporterDown (1m)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97480" y="4453128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EF4444">
              <a:alpha val="3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70632" y="4453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HighKafkaLag &gt; 100 (2m)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00600" y="4453128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EF4444">
              <a:alpha val="3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4453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UnderReplicatedPartitions &gt; 0 (1m)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03720" y="4453128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EF4444">
              <a:alpha val="3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76872" y="4453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KafkaBrokerDown &lt; 1 (1m)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COSTOS &amp; ESCALADO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y Estrategia de Escalado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actuales y proyección cloud para producción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4069080" cy="22860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Recursos Actuales (Docker local)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cores (Spark local[*])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driver + 512 MB Kafka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4688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MB Parquet + ~50 MB Kafka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834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Particiones: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tópico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2004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Ejecutores Spark: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(local[*], multi-thread)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069080" cy="22860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Estimación Cloud (AWS) — Referencia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17373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(3 brokers)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173736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MSK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818120" y="1737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~$90/mes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209397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(4 workers)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0" y="209397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EMR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18120" y="209397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~$200/mes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245059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0" y="245059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S3 100 GB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818120" y="245059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~$5/mes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8072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Dashboard/API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0" y="2807208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t3.medium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818120" y="280720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~$30/mes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16382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316382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Cloud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818120" y="316382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~$15/mes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520440"/>
            <a:ext cx="4069080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~$365 / mes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11480" y="3767328"/>
            <a:ext cx="8321040" cy="9601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94360" y="381304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Estrategia de Escalado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94360" y="40782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(ahora):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4360" y="42976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Spark memory 8-16 GB · maxRatePerPartition 1000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40782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(prod):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00600" y="42976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brokers Kafka · 4-8 workers Spark · 3-6 particiones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CONCLUSIONES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alcanzados · Limitaciones · Mejoras y roadmap 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397764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89888"/>
            <a:ext cx="6400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538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Pipeline Funcional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servicios contenedorizados Kafka + Spark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389888"/>
            <a:ext cx="397764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89888"/>
            <a:ext cx="6400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538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Ingesta Real-Time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Supabase + polling 30s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304288"/>
            <a:ext cx="397764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304288"/>
            <a:ext cx="6400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3682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Detección Anomalías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2651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σ=2.0 configurables por estación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304288"/>
            <a:ext cx="397764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304288"/>
            <a:ext cx="6400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3682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ETL Histórico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2651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1,073,151 registros SENAMHI en Parquet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218688"/>
            <a:ext cx="397764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218688"/>
            <a:ext cx="6400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2826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Observabilidad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35661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+ Streamlit unificados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218688"/>
            <a:ext cx="397764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218688"/>
            <a:ext cx="6400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2826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Documentado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35661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cloud y estrategia de escalado definidos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4206240"/>
            <a:ext cx="8321040" cy="6400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424281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Roadmap ML Distribuido: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4507992"/>
            <a:ext cx="1965960" cy="237744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" y="45079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Estadística (actual)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651760" y="4507992"/>
            <a:ext cx="1965960" cy="237744"/>
          </a:xfrm>
          <a:prstGeom prst="roundRect">
            <a:avLst>
              <a:gd name="adj" fmla="val 19231"/>
            </a:avLst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24912" y="45079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ARIMA / Prophet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4507992"/>
            <a:ext cx="1965960" cy="237744"/>
          </a:xfrm>
          <a:prstGeom prst="roundRect">
            <a:avLst>
              <a:gd name="adj" fmla="val 19231"/>
            </a:avLst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45079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Spark MLlib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766560" y="4507992"/>
            <a:ext cx="1965960" cy="237744"/>
          </a:xfrm>
          <a:prstGeom prst="roundRect">
            <a:avLst>
              <a:gd name="adj" fmla="val 19231"/>
            </a:avLst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9712" y="45079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4: Deep Learning DL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1011</Words>
  <Application>Microsoft Office PowerPoint</Application>
  <PresentationFormat>Presentación en pantalla (16:9)</PresentationFormat>
  <Paragraphs>233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CimaPerú - Sistema de Monitoreo Climático Inteligente</dc:title>
  <dc:subject>PptxGenJS Presentation</dc:subject>
  <dc:creator>PptxGenJS</dc:creator>
  <cp:lastModifiedBy>Ivan Yomar</cp:lastModifiedBy>
  <cp:revision>4</cp:revision>
  <dcterms:created xsi:type="dcterms:W3CDTF">2026-06-02T15:29:53Z</dcterms:created>
  <dcterms:modified xsi:type="dcterms:W3CDTF">2026-06-02T16:05:59Z</dcterms:modified>
</cp:coreProperties>
</file>